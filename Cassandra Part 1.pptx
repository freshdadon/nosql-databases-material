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8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093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0498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294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44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534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964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436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659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512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16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8172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1393A-8818-4D2F-BEB9-6A3B1E450BA2}" type="datetimeFigureOut">
              <a:rPr lang="en-ZA" smtClean="0"/>
              <a:t>2024/04/17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94BF7-E147-4379-93CD-0EA63B4C1C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323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Apache Cassandra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249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Cassandra is a distributed database from Apache that is highly scalable and designed to manage very large amounts of structured data. </a:t>
            </a:r>
          </a:p>
          <a:p>
            <a:pPr lvl="1"/>
            <a:r>
              <a:rPr lang="en-US" dirty="0"/>
              <a:t>It provides high availability with no single point of failure.</a:t>
            </a:r>
          </a:p>
          <a:p>
            <a:pPr lvl="1"/>
            <a:r>
              <a:rPr lang="en-US" dirty="0"/>
              <a:t>Its distribution design is based on Amazon’s Dynamo and its data model on Google’s </a:t>
            </a:r>
            <a:r>
              <a:rPr lang="en-US" dirty="0" err="1"/>
              <a:t>Bigtable</a:t>
            </a:r>
            <a:r>
              <a:rPr lang="en-US" dirty="0"/>
              <a:t>.</a:t>
            </a:r>
          </a:p>
          <a:p>
            <a:r>
              <a:rPr lang="en-ZA" b="1" dirty="0"/>
              <a:t>History</a:t>
            </a:r>
          </a:p>
          <a:p>
            <a:pPr lvl="1"/>
            <a:r>
              <a:rPr lang="en-US" sz="2400" dirty="0"/>
              <a:t>Cassandra was developed at Facebook for inbox search.</a:t>
            </a:r>
          </a:p>
          <a:p>
            <a:pPr lvl="1"/>
            <a:r>
              <a:rPr lang="en-US" sz="2400" dirty="0"/>
              <a:t>It was open-sourced by Facebook in July 2008.</a:t>
            </a:r>
          </a:p>
          <a:p>
            <a:pPr lvl="1"/>
            <a:r>
              <a:rPr lang="en-US" sz="2400" dirty="0"/>
              <a:t>Cassandra was accepted into Apache Incubator in March 2009.</a:t>
            </a:r>
          </a:p>
          <a:p>
            <a:pPr lvl="1"/>
            <a:r>
              <a:rPr lang="en-US" sz="2400" dirty="0"/>
              <a:t>It was made an Apache top-level project since February 2010.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349619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ZA" dirty="0"/>
              <a:t>Key </a:t>
            </a:r>
            <a:r>
              <a:rPr lang="en-ZA" sz="3600" dirty="0"/>
              <a:t>Features</a:t>
            </a:r>
            <a:r>
              <a:rPr lang="en-ZA" dirty="0"/>
              <a:t> of Cassandra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Elastic scalability</a:t>
            </a:r>
            <a:r>
              <a:rPr lang="en-US" dirty="0"/>
              <a:t> − Cassandra is highly scalable; it allows to add more hardware to accommodate more customers and more data as per requirement.</a:t>
            </a:r>
          </a:p>
          <a:p>
            <a:r>
              <a:rPr lang="en-US" b="1" dirty="0"/>
              <a:t>Always on architecture</a:t>
            </a:r>
            <a:r>
              <a:rPr lang="en-US" dirty="0"/>
              <a:t> − Cassandra has no single point of failure and it is continuously available for business-critical applications that cannot afford a failure.</a:t>
            </a:r>
          </a:p>
          <a:p>
            <a:r>
              <a:rPr lang="en-US" b="1" dirty="0"/>
              <a:t>Fast linear-scale performance</a:t>
            </a:r>
            <a:r>
              <a:rPr lang="en-US" dirty="0"/>
              <a:t> − Cassandra is linearly scalable, i.e., it increases your throughput as you increase the number of nodes in the cluster. Therefore it maintains a quick response time.</a:t>
            </a:r>
          </a:p>
          <a:p>
            <a:r>
              <a:rPr lang="en-US" b="1" dirty="0"/>
              <a:t>Flexible data storage</a:t>
            </a:r>
            <a:r>
              <a:rPr lang="en-US" dirty="0"/>
              <a:t> − Cassandra accommodates all possible data formats including: structured, semi-structured, and unstructured. It can dynamically accommodate changes to your data structures according to your need.</a:t>
            </a:r>
          </a:p>
          <a:p>
            <a:r>
              <a:rPr lang="en-US" b="1" dirty="0"/>
              <a:t>Easy data distribution</a:t>
            </a:r>
            <a:r>
              <a:rPr lang="en-US" dirty="0"/>
              <a:t> − Cassandra provides the flexibility to distribute data where you need by replicating data across multiple data centers.</a:t>
            </a:r>
          </a:p>
          <a:p>
            <a:r>
              <a:rPr lang="en-US" b="1" dirty="0"/>
              <a:t>Transaction support</a:t>
            </a:r>
            <a:r>
              <a:rPr lang="en-US" dirty="0"/>
              <a:t> − Cassandra supports properties like Atomicity, Consistency, Isolation, and Durability (ACID).</a:t>
            </a:r>
          </a:p>
          <a:p>
            <a:r>
              <a:rPr lang="en-US" b="1" dirty="0"/>
              <a:t>Fast writes</a:t>
            </a:r>
            <a:r>
              <a:rPr lang="en-US" dirty="0"/>
              <a:t> − Cassandra was designed to run on cheap commodity hardware. It performs blazingly fast writes and can store hundreds of terabytes of data, without sacrificing the read efficiency.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0977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Who Uses Cassandra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2448272" cy="101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520" y="1729383"/>
            <a:ext cx="219427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472333"/>
            <a:ext cx="28575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090" y="2994399"/>
            <a:ext cx="2619375" cy="1453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20" y="3940708"/>
            <a:ext cx="1540705" cy="154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272433"/>
            <a:ext cx="28575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182382" y="4886469"/>
            <a:ext cx="4001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/>
              <a:t> Common factor: Large, active data sets.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0007" y="5382160"/>
            <a:ext cx="4572000" cy="120032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/>
              <a:t>Netflix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2,500 nodes,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420 TB,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 1 trillion requests per day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3DBFEE-5C00-EC33-5F31-A8B9063774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0149" y="1412776"/>
            <a:ext cx="2428994" cy="1723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B7F532-2029-EA0E-97E8-1E06670A3AC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225" t="29065" r="6212" b="30433"/>
          <a:stretch/>
        </p:blipFill>
        <p:spPr>
          <a:xfrm>
            <a:off x="886844" y="5481413"/>
            <a:ext cx="2997607" cy="12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1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 Cassandra Query Language Shell 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cqlsh</a:t>
            </a:r>
            <a:r>
              <a:rPr lang="en-US" sz="2800" dirty="0">
                <a:solidFill>
                  <a:srgbClr val="FF0000"/>
                </a:solidFill>
              </a:rPr>
              <a:t>) </a:t>
            </a:r>
            <a:endParaRPr lang="en-ZA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Cassandra query language shell (</a:t>
            </a:r>
            <a:r>
              <a:rPr lang="en-US" dirty="0" err="1"/>
              <a:t>cqlsh</a:t>
            </a:r>
            <a:r>
              <a:rPr lang="en-US" dirty="0"/>
              <a:t>) is a command prompt that allows users to communicate with it. </a:t>
            </a:r>
          </a:p>
          <a:p>
            <a:r>
              <a:rPr lang="en-US" dirty="0"/>
              <a:t>Using this shell, you can execute </a:t>
            </a:r>
            <a:r>
              <a:rPr lang="en-US" b="1" dirty="0">
                <a:solidFill>
                  <a:srgbClr val="FF0000"/>
                </a:solidFill>
              </a:rPr>
              <a:t>Cassandra Query Language (CQL)</a:t>
            </a:r>
            <a:r>
              <a:rPr lang="en-US" dirty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97655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Create Keyspace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ZA" dirty="0"/>
              <a:t>Syntax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CREATE KEYSPACE &lt;identifier&gt; WITH &lt;properties&gt;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CREATE KEYSPACE </a:t>
            </a:r>
            <a:r>
              <a:rPr lang="en-US" sz="1800" dirty="0">
                <a:solidFill>
                  <a:schemeClr val="accent3"/>
                </a:solidFill>
              </a:rPr>
              <a:t>“</a:t>
            </a:r>
            <a:r>
              <a:rPr lang="en-US" sz="1800" dirty="0" err="1">
                <a:solidFill>
                  <a:schemeClr val="accent3"/>
                </a:solidFill>
              </a:rPr>
              <a:t>KeySpace</a:t>
            </a:r>
            <a:r>
              <a:rPr lang="en-US" sz="1800" dirty="0">
                <a:solidFill>
                  <a:schemeClr val="accent3"/>
                </a:solidFill>
              </a:rPr>
              <a:t> Name</a:t>
            </a:r>
            <a:r>
              <a:rPr lang="en-US" sz="1800" dirty="0">
                <a:solidFill>
                  <a:srgbClr val="FF0000"/>
                </a:solidFill>
              </a:rPr>
              <a:t>” WITH </a:t>
            </a:r>
            <a:r>
              <a:rPr lang="en-US" sz="1800" dirty="0">
                <a:solidFill>
                  <a:schemeClr val="accent1"/>
                </a:solidFill>
              </a:rPr>
              <a:t>replication = {'class': ‘Strategy name’, '</a:t>
            </a:r>
            <a:r>
              <a:rPr lang="en-US" sz="1800" dirty="0" err="1">
                <a:solidFill>
                  <a:schemeClr val="accent1"/>
                </a:solidFill>
              </a:rPr>
              <a:t>replication_factor</a:t>
            </a:r>
            <a:r>
              <a:rPr lang="en-US" sz="1800" dirty="0">
                <a:solidFill>
                  <a:schemeClr val="accent1"/>
                </a:solidFill>
              </a:rPr>
              <a:t>' : ‘</a:t>
            </a:r>
            <a:r>
              <a:rPr lang="en-US" sz="1800" dirty="0" err="1">
                <a:solidFill>
                  <a:schemeClr val="accent1"/>
                </a:solidFill>
              </a:rPr>
              <a:t>No.Of</a:t>
            </a:r>
            <a:r>
              <a:rPr lang="en-US" sz="1800" dirty="0">
                <a:solidFill>
                  <a:schemeClr val="accent1"/>
                </a:solidFill>
              </a:rPr>
              <a:t>   replicas’};</a:t>
            </a:r>
          </a:p>
          <a:p>
            <a:r>
              <a:rPr lang="en-US" dirty="0"/>
              <a:t>Strategies</a:t>
            </a:r>
          </a:p>
          <a:p>
            <a:pPr lvl="1"/>
            <a:r>
              <a:rPr lang="en-US" sz="1200" dirty="0">
                <a:solidFill>
                  <a:schemeClr val="accent1"/>
                </a:solidFill>
              </a:rPr>
              <a:t>Simple Strategy: - Specifies a simple replication factor for the cluster.</a:t>
            </a:r>
          </a:p>
          <a:p>
            <a:pPr lvl="1"/>
            <a:r>
              <a:rPr lang="en-US" sz="1200" dirty="0">
                <a:solidFill>
                  <a:schemeClr val="accent1"/>
                </a:solidFill>
              </a:rPr>
              <a:t>Network Topology Strategy: Using this option, you can set the replication factor for each data-center independently.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CREATE KEYSPACE </a:t>
            </a:r>
            <a:r>
              <a:rPr lang="en-US" dirty="0" err="1">
                <a:solidFill>
                  <a:srgbClr val="FF0000"/>
                </a:solidFill>
              </a:rPr>
              <a:t>mystudentsDB</a:t>
            </a:r>
            <a:r>
              <a:rPr lang="en-US" dirty="0">
                <a:solidFill>
                  <a:srgbClr val="FF0000"/>
                </a:solidFill>
              </a:rPr>
              <a:t> WITH replication = {'class':'</a:t>
            </a:r>
            <a:r>
              <a:rPr lang="en-US" dirty="0" err="1">
                <a:solidFill>
                  <a:srgbClr val="FF0000"/>
                </a:solidFill>
              </a:rPr>
              <a:t>SimpleStrategy</a:t>
            </a:r>
            <a:r>
              <a:rPr lang="en-US" dirty="0">
                <a:solidFill>
                  <a:srgbClr val="FF0000"/>
                </a:solidFill>
              </a:rPr>
              <a:t>', '</a:t>
            </a:r>
            <a:r>
              <a:rPr lang="en-US" dirty="0" err="1">
                <a:solidFill>
                  <a:srgbClr val="FF0000"/>
                </a:solidFill>
              </a:rPr>
              <a:t>replication_factor</a:t>
            </a:r>
            <a:r>
              <a:rPr lang="en-US" dirty="0">
                <a:solidFill>
                  <a:srgbClr val="FF0000"/>
                </a:solidFill>
              </a:rPr>
              <a:t>' : 1};</a:t>
            </a:r>
          </a:p>
          <a:p>
            <a:r>
              <a:rPr lang="en-US" sz="2600" dirty="0"/>
              <a:t>To use a </a:t>
            </a:r>
            <a:r>
              <a:rPr lang="en-US" sz="2600" dirty="0" err="1"/>
              <a:t>keyspace</a:t>
            </a:r>
            <a:endParaRPr lang="en-US" sz="2600" dirty="0"/>
          </a:p>
          <a:p>
            <a:pPr lvl="1"/>
            <a:r>
              <a:rPr lang="en-US" sz="2200" dirty="0" err="1">
                <a:solidFill>
                  <a:schemeClr val="accent1"/>
                </a:solidFill>
              </a:rPr>
              <a:t>Syntax:USE</a:t>
            </a:r>
            <a:r>
              <a:rPr lang="en-US" sz="2200" dirty="0">
                <a:solidFill>
                  <a:schemeClr val="accent1"/>
                </a:solidFill>
              </a:rPr>
              <a:t> &lt;identifier&gt;</a:t>
            </a:r>
          </a:p>
          <a:p>
            <a:pPr lvl="1"/>
            <a:r>
              <a:rPr lang="en-US" sz="2200" dirty="0">
                <a:solidFill>
                  <a:schemeClr val="accent1"/>
                </a:solidFill>
              </a:rPr>
              <a:t>Example: </a:t>
            </a:r>
            <a:r>
              <a:rPr lang="en-US" sz="2200" dirty="0">
                <a:solidFill>
                  <a:srgbClr val="FF0000"/>
                </a:solidFill>
              </a:rPr>
              <a:t>USE </a:t>
            </a:r>
            <a:r>
              <a:rPr lang="en-US" sz="2200" dirty="0" err="1">
                <a:solidFill>
                  <a:srgbClr val="FF0000"/>
                </a:solidFill>
              </a:rPr>
              <a:t>mystudentsDB</a:t>
            </a:r>
            <a:endParaRPr lang="en-US" sz="22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To Verify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SELECT * FROM </a:t>
            </a:r>
            <a:r>
              <a:rPr lang="en-US" sz="2600" dirty="0" err="1">
                <a:solidFill>
                  <a:srgbClr val="FF0000"/>
                </a:solidFill>
              </a:rPr>
              <a:t>system.schema_keyspaces</a:t>
            </a:r>
            <a:r>
              <a:rPr lang="en-US" sz="2600" dirty="0">
                <a:solidFill>
                  <a:srgbClr val="FF0000"/>
                </a:solidFill>
              </a:rPr>
              <a:t>;</a:t>
            </a:r>
          </a:p>
          <a:p>
            <a:endParaRPr lang="en-ZA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494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Alter &amp; Drop </a:t>
            </a:r>
            <a:r>
              <a:rPr lang="en-ZA" dirty="0" err="1"/>
              <a:t>Keyspaces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Alter Keyspace</a:t>
            </a:r>
          </a:p>
          <a:p>
            <a:pPr lvl="1"/>
            <a:r>
              <a:rPr lang="en-ZA" sz="1800" dirty="0"/>
              <a:t>Syntax: </a:t>
            </a:r>
            <a:r>
              <a:rPr lang="en-US" sz="1800" dirty="0">
                <a:solidFill>
                  <a:schemeClr val="accent1"/>
                </a:solidFill>
              </a:rPr>
              <a:t>ALTER KEYSPACE &lt;identifier&gt; WITH &lt;properties&gt;</a:t>
            </a:r>
          </a:p>
          <a:p>
            <a:pPr lvl="1"/>
            <a:r>
              <a:rPr lang="en-US" sz="1800" dirty="0"/>
              <a:t>Example: </a:t>
            </a:r>
            <a:r>
              <a:rPr lang="en-US" sz="1800" dirty="0">
                <a:solidFill>
                  <a:srgbClr val="FF0000"/>
                </a:solidFill>
              </a:rPr>
              <a:t>ALTER  KEYSPACE </a:t>
            </a:r>
            <a:r>
              <a:rPr lang="en-US" sz="1800" dirty="0" err="1">
                <a:solidFill>
                  <a:srgbClr val="FF0000"/>
                </a:solidFill>
              </a:rPr>
              <a:t>mystudentsDB</a:t>
            </a:r>
            <a:r>
              <a:rPr lang="en-US" sz="1800" dirty="0">
                <a:solidFill>
                  <a:srgbClr val="FF0000"/>
                </a:solidFill>
              </a:rPr>
              <a:t> WITH replication = {'class':'</a:t>
            </a:r>
            <a:r>
              <a:rPr lang="en-US" sz="1800" dirty="0" err="1">
                <a:solidFill>
                  <a:srgbClr val="FF0000"/>
                </a:solidFill>
              </a:rPr>
              <a:t>SimpleStrategy</a:t>
            </a:r>
            <a:r>
              <a:rPr lang="en-US" sz="1800" dirty="0">
                <a:solidFill>
                  <a:srgbClr val="FF0000"/>
                </a:solidFill>
              </a:rPr>
              <a:t>', '</a:t>
            </a:r>
            <a:r>
              <a:rPr lang="en-US" sz="1800" dirty="0" err="1">
                <a:solidFill>
                  <a:srgbClr val="FF0000"/>
                </a:solidFill>
              </a:rPr>
              <a:t>replication_factor</a:t>
            </a:r>
            <a:r>
              <a:rPr lang="en-US" sz="1800" dirty="0">
                <a:solidFill>
                  <a:srgbClr val="FF0000"/>
                </a:solidFill>
              </a:rPr>
              <a:t>' : 2};</a:t>
            </a:r>
          </a:p>
          <a:p>
            <a:r>
              <a:rPr lang="en-US" dirty="0"/>
              <a:t>Drop Keyspace</a:t>
            </a:r>
          </a:p>
          <a:p>
            <a:pPr lvl="1"/>
            <a:r>
              <a:rPr lang="en-ZA" sz="1800" dirty="0"/>
              <a:t>Syntax</a:t>
            </a:r>
            <a:r>
              <a:rPr lang="en-ZA" sz="1800" dirty="0">
                <a:solidFill>
                  <a:schemeClr val="accent1"/>
                </a:solidFill>
              </a:rPr>
              <a:t>: DROP KEYSPACE &lt;identifier&gt;</a:t>
            </a:r>
          </a:p>
          <a:p>
            <a:pPr lvl="1"/>
            <a:r>
              <a:rPr lang="en-ZA" sz="1800" b="1" dirty="0"/>
              <a:t>Example: </a:t>
            </a:r>
            <a:r>
              <a:rPr lang="en-ZA" sz="1800" dirty="0">
                <a:solidFill>
                  <a:srgbClr val="FF0000"/>
                </a:solidFill>
              </a:rPr>
              <a:t>DROP KEYSPACE </a:t>
            </a:r>
            <a:r>
              <a:rPr lang="en-US" sz="1800" dirty="0" err="1">
                <a:solidFill>
                  <a:srgbClr val="FF0000"/>
                </a:solidFill>
              </a:rPr>
              <a:t>mystudentsDB</a:t>
            </a:r>
            <a:r>
              <a:rPr lang="en-US" sz="1800" dirty="0">
                <a:solidFill>
                  <a:srgbClr val="FF0000"/>
                </a:solidFill>
              </a:rPr>
              <a:t>; </a:t>
            </a:r>
          </a:p>
          <a:p>
            <a:r>
              <a:rPr lang="en-US" sz="2200" dirty="0"/>
              <a:t>You can verify that it has been dropped by using the </a:t>
            </a:r>
            <a:r>
              <a:rPr lang="en-US" sz="2200" dirty="0">
                <a:solidFill>
                  <a:srgbClr val="FF0000"/>
                </a:solidFill>
              </a:rPr>
              <a:t>Describe</a:t>
            </a:r>
            <a:r>
              <a:rPr lang="en-US" sz="2200" dirty="0"/>
              <a:t> command</a:t>
            </a:r>
          </a:p>
          <a:p>
            <a:pPr lvl="1"/>
            <a:r>
              <a:rPr lang="en-ZA" sz="1800" dirty="0">
                <a:solidFill>
                  <a:srgbClr val="FF0000"/>
                </a:solidFill>
              </a:rPr>
              <a:t>DESCRIBE </a:t>
            </a:r>
            <a:r>
              <a:rPr lang="en-ZA" sz="1800" dirty="0" err="1">
                <a:solidFill>
                  <a:srgbClr val="FF0000"/>
                </a:solidFill>
              </a:rPr>
              <a:t>keyspaces</a:t>
            </a:r>
            <a:r>
              <a:rPr lang="en-ZA" sz="1800" dirty="0">
                <a:solidFill>
                  <a:srgbClr val="FF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36804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Creating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/>
          <a:lstStyle/>
          <a:p>
            <a:r>
              <a:rPr lang="en-ZA" dirty="0"/>
              <a:t>Syntax</a:t>
            </a:r>
          </a:p>
          <a:p>
            <a:pPr lvl="1"/>
            <a:r>
              <a:rPr lang="en-US" sz="1800" dirty="0"/>
              <a:t>CREATE (TABLE | COLUMNFAMILY) &lt;</a:t>
            </a:r>
            <a:r>
              <a:rPr lang="en-US" sz="1800" dirty="0" err="1"/>
              <a:t>tablename</a:t>
            </a:r>
            <a:r>
              <a:rPr lang="en-US" sz="1800" dirty="0"/>
              <a:t>&gt; ('&lt;column-definition&gt;' , '&lt;column-definition&gt;') (WITH &lt;option&gt; AND &lt;option&gt;)</a:t>
            </a:r>
          </a:p>
          <a:p>
            <a:r>
              <a:rPr lang="en-ZA" sz="2200" b="1" dirty="0"/>
              <a:t>Column-definition</a:t>
            </a:r>
          </a:p>
          <a:p>
            <a:endParaRPr lang="en-ZA" sz="2200" b="1" dirty="0"/>
          </a:p>
          <a:p>
            <a:endParaRPr lang="en-ZA" sz="2200" b="1" dirty="0"/>
          </a:p>
          <a:p>
            <a:endParaRPr lang="en-ZA" sz="2200" b="1" dirty="0"/>
          </a:p>
          <a:p>
            <a:r>
              <a:rPr lang="en-ZA" sz="2400" b="1" dirty="0"/>
              <a:t>Primary Key</a:t>
            </a:r>
          </a:p>
          <a:p>
            <a:pPr lvl="1"/>
            <a:r>
              <a:rPr lang="en-US" sz="1800" dirty="0"/>
              <a:t>Column that is used to uniquely identify a row</a:t>
            </a:r>
            <a:endParaRPr lang="en-ZA" sz="1800" dirty="0"/>
          </a:p>
          <a:p>
            <a:pPr marL="457200" lvl="1" indent="0">
              <a:buNone/>
            </a:pPr>
            <a:endParaRPr lang="en-ZA" sz="1800" dirty="0"/>
          </a:p>
        </p:txBody>
      </p:sp>
      <p:grpSp>
        <p:nvGrpSpPr>
          <p:cNvPr id="8" name="Group 7"/>
          <p:cNvGrpSpPr/>
          <p:nvPr/>
        </p:nvGrpSpPr>
        <p:grpSpPr>
          <a:xfrm>
            <a:off x="1547664" y="3364984"/>
            <a:ext cx="5400600" cy="646333"/>
            <a:chOff x="827584" y="3356990"/>
            <a:chExt cx="5400600" cy="646333"/>
          </a:xfrm>
        </p:grpSpPr>
        <p:sp>
          <p:nvSpPr>
            <p:cNvPr id="4" name="Rectangle 3"/>
            <p:cNvSpPr/>
            <p:nvPr/>
          </p:nvSpPr>
          <p:spPr>
            <a:xfrm>
              <a:off x="827584" y="3356992"/>
              <a:ext cx="2592288" cy="64633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column name1 </a:t>
              </a:r>
              <a:r>
                <a:rPr lang="en-US" dirty="0">
                  <a:solidFill>
                    <a:schemeClr val="accent6"/>
                  </a:solidFill>
                </a:rPr>
                <a:t>data type</a:t>
              </a:r>
              <a:r>
                <a:rPr lang="en-US" dirty="0"/>
                <a:t>,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column name2 </a:t>
              </a:r>
              <a:r>
                <a:rPr lang="en-US" dirty="0">
                  <a:solidFill>
                    <a:schemeClr val="accent6"/>
                  </a:solidFill>
                </a:rPr>
                <a:t>data type</a:t>
              </a:r>
              <a:r>
                <a:rPr lang="en-US" dirty="0"/>
                <a:t>,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644008" y="3356990"/>
              <a:ext cx="1584176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ZA" dirty="0">
                  <a:solidFill>
                    <a:srgbClr val="FF0000"/>
                  </a:solidFill>
                </a:rPr>
                <a:t>age</a:t>
              </a:r>
              <a:r>
                <a:rPr lang="en-ZA" dirty="0"/>
                <a:t> </a:t>
              </a:r>
              <a:r>
                <a:rPr lang="en-ZA" dirty="0" err="1">
                  <a:solidFill>
                    <a:schemeClr val="accent6"/>
                  </a:solidFill>
                </a:rPr>
                <a:t>int</a:t>
              </a:r>
              <a:r>
                <a:rPr lang="en-ZA" dirty="0"/>
                <a:t>,</a:t>
              </a:r>
            </a:p>
            <a:p>
              <a:r>
                <a:rPr lang="en-ZA" dirty="0">
                  <a:solidFill>
                    <a:srgbClr val="FF0000"/>
                  </a:solidFill>
                </a:rPr>
                <a:t>name</a:t>
              </a:r>
              <a:r>
                <a:rPr lang="en-ZA" dirty="0"/>
                <a:t> </a:t>
              </a:r>
              <a:r>
                <a:rPr lang="en-ZA" dirty="0">
                  <a:solidFill>
                    <a:schemeClr val="accent6"/>
                  </a:solidFill>
                </a:rPr>
                <a:t>text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3635896" y="3680157"/>
              <a:ext cx="720080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937000" y="5373216"/>
            <a:ext cx="7115134" cy="387736"/>
            <a:chOff x="937000" y="5373216"/>
            <a:chExt cx="7115134" cy="387736"/>
          </a:xfrm>
        </p:grpSpPr>
        <p:sp>
          <p:nvSpPr>
            <p:cNvPr id="9" name="Rectangle 8"/>
            <p:cNvSpPr/>
            <p:nvPr/>
          </p:nvSpPr>
          <p:spPr>
            <a:xfrm>
              <a:off x="937000" y="5373216"/>
              <a:ext cx="3814762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ZA" dirty="0">
                  <a:solidFill>
                    <a:srgbClr val="FF0000"/>
                  </a:solidFill>
                </a:rPr>
                <a:t>column1 name </a:t>
              </a:r>
              <a:r>
                <a:rPr lang="en-ZA" dirty="0">
                  <a:solidFill>
                    <a:schemeClr val="accent6"/>
                  </a:solidFill>
                </a:rPr>
                <a:t>datatype</a:t>
              </a:r>
              <a:r>
                <a:rPr lang="en-ZA" dirty="0"/>
                <a:t> PRIMARY KEY,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508104" y="5391620"/>
              <a:ext cx="254403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ZA" dirty="0" err="1">
                  <a:solidFill>
                    <a:srgbClr val="FF0000"/>
                  </a:solidFill>
                </a:rPr>
                <a:t>emp_id</a:t>
              </a:r>
              <a:r>
                <a:rPr lang="en-ZA" dirty="0"/>
                <a:t> </a:t>
              </a:r>
              <a:r>
                <a:rPr lang="en-ZA" dirty="0" err="1">
                  <a:solidFill>
                    <a:schemeClr val="accent6"/>
                  </a:solidFill>
                </a:rPr>
                <a:t>int</a:t>
              </a:r>
              <a:r>
                <a:rPr lang="en-ZA" dirty="0"/>
                <a:t> PRIMARY KEY,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4788024" y="5576286"/>
              <a:ext cx="576064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937000" y="6021288"/>
            <a:ext cx="6924441" cy="387736"/>
            <a:chOff x="937000" y="5373216"/>
            <a:chExt cx="6924441" cy="387736"/>
          </a:xfrm>
        </p:grpSpPr>
        <p:sp>
          <p:nvSpPr>
            <p:cNvPr id="15" name="Rectangle 14"/>
            <p:cNvSpPr/>
            <p:nvPr/>
          </p:nvSpPr>
          <p:spPr>
            <a:xfrm>
              <a:off x="937000" y="5373216"/>
              <a:ext cx="309520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ZA" dirty="0"/>
                <a:t>PRIMARY KEY (</a:t>
              </a:r>
              <a:r>
                <a:rPr lang="en-ZA" dirty="0">
                  <a:solidFill>
                    <a:srgbClr val="FF0000"/>
                  </a:solidFill>
                </a:rPr>
                <a:t>column1 name )</a:t>
              </a:r>
              <a:endParaRPr lang="en-ZA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08104" y="5391620"/>
              <a:ext cx="2353337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ZA" dirty="0"/>
                <a:t>PRIMARY KEY (</a:t>
              </a:r>
              <a:r>
                <a:rPr lang="en-ZA" dirty="0" err="1">
                  <a:solidFill>
                    <a:srgbClr val="FF0000"/>
                  </a:solidFill>
                </a:rPr>
                <a:t>emp_id</a:t>
              </a:r>
              <a:r>
                <a:rPr lang="en-ZA" dirty="0"/>
                <a:t>)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4788024" y="5576286"/>
              <a:ext cx="576064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0459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1840" y="320440"/>
            <a:ext cx="2592288" cy="175432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tx1"/>
                </a:solidFill>
              </a:rPr>
              <a:t>CREATE TABLE </a:t>
            </a:r>
            <a:r>
              <a:rPr lang="en-US" altLang="en-US" dirty="0" err="1">
                <a:solidFill>
                  <a:schemeClr val="tx1"/>
                </a:solidFill>
              </a:rPr>
              <a:t>emp</a:t>
            </a:r>
            <a:r>
              <a:rPr lang="en-US" altLang="en-US" dirty="0">
                <a:solidFill>
                  <a:schemeClr val="tx1"/>
                </a:solidFill>
              </a:rPr>
              <a:t>(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solidFill>
                  <a:srgbClr val="FF0000"/>
                </a:solidFill>
              </a:rPr>
              <a:t>emp_id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int</a:t>
            </a:r>
            <a:r>
              <a:rPr lang="en-US" altLang="en-US" dirty="0">
                <a:solidFill>
                  <a:srgbClr val="FF0000"/>
                </a:solidFill>
              </a:rPr>
              <a:t> PRIMARY KEY, </a:t>
            </a:r>
            <a:r>
              <a:rPr lang="en-US" altLang="en-US" dirty="0" err="1">
                <a:solidFill>
                  <a:schemeClr val="tx1"/>
                </a:solidFill>
              </a:rPr>
              <a:t>emp_name</a:t>
            </a:r>
            <a:r>
              <a:rPr lang="en-US" altLang="en-US" dirty="0">
                <a:solidFill>
                  <a:schemeClr val="tx1"/>
                </a:solidFill>
              </a:rPr>
              <a:t> text,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solidFill>
                  <a:schemeClr val="tx1"/>
                </a:solidFill>
              </a:rPr>
              <a:t>emp_city</a:t>
            </a:r>
            <a:r>
              <a:rPr lang="en-US" altLang="en-US" dirty="0">
                <a:solidFill>
                  <a:schemeClr val="tx1"/>
                </a:solidFill>
              </a:rPr>
              <a:t> text,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solidFill>
                  <a:schemeClr val="tx1"/>
                </a:solidFill>
              </a:rPr>
              <a:t>emp_sal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varint</a:t>
            </a:r>
            <a:r>
              <a:rPr lang="en-US" altLang="en-US" dirty="0">
                <a:solidFill>
                  <a:schemeClr val="tx1"/>
                </a:solidFill>
              </a:rPr>
              <a:t>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solidFill>
                  <a:schemeClr val="tx1"/>
                </a:solidFill>
              </a:rPr>
              <a:t>emp_phone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varint</a:t>
            </a:r>
            <a:r>
              <a:rPr lang="en-US" altLang="en-US" dirty="0">
                <a:solidFill>
                  <a:schemeClr val="tx1"/>
                </a:solidFill>
              </a:rPr>
              <a:t> ); </a:t>
            </a:r>
          </a:p>
        </p:txBody>
      </p:sp>
      <p:sp>
        <p:nvSpPr>
          <p:cNvPr id="4" name="Rectangle 3"/>
          <p:cNvSpPr/>
          <p:nvPr/>
        </p:nvSpPr>
        <p:spPr>
          <a:xfrm>
            <a:off x="2555776" y="2270469"/>
            <a:ext cx="2737464" cy="20313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CREATE TABLE students (</a:t>
            </a:r>
          </a:p>
          <a:p>
            <a:r>
              <a:rPr lang="en-US" dirty="0"/>
              <a:t>    </a:t>
            </a:r>
            <a:r>
              <a:rPr lang="en-US" dirty="0" err="1"/>
              <a:t>std_id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std_surname</a:t>
            </a:r>
            <a:r>
              <a:rPr lang="en-US" dirty="0"/>
              <a:t> text,</a:t>
            </a:r>
          </a:p>
          <a:p>
            <a:r>
              <a:rPr lang="en-US" dirty="0"/>
              <a:t>    </a:t>
            </a:r>
            <a:r>
              <a:rPr lang="en-US" dirty="0" err="1"/>
              <a:t>std_initilas</a:t>
            </a:r>
            <a:r>
              <a:rPr lang="en-US" dirty="0"/>
              <a:t> text,</a:t>
            </a:r>
          </a:p>
          <a:p>
            <a:r>
              <a:rPr lang="en-US" dirty="0"/>
              <a:t>    </a:t>
            </a:r>
            <a:r>
              <a:rPr lang="en-US" dirty="0" err="1"/>
              <a:t>std_gender</a:t>
            </a:r>
            <a:r>
              <a:rPr lang="en-US" dirty="0"/>
              <a:t> text,</a:t>
            </a:r>
          </a:p>
          <a:p>
            <a:r>
              <a:rPr lang="en-US" dirty="0">
                <a:solidFill>
                  <a:srgbClr val="FF0000"/>
                </a:solidFill>
              </a:rPr>
              <a:t>    PRIMARY KEY (</a:t>
            </a:r>
            <a:r>
              <a:rPr lang="en-US" dirty="0" err="1">
                <a:solidFill>
                  <a:srgbClr val="FF0000"/>
                </a:solidFill>
              </a:rPr>
              <a:t>std_id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r>
              <a:rPr lang="en-US" dirty="0"/>
              <a:t>);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5724128" y="3284984"/>
            <a:ext cx="2808312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CREATE TABLE </a:t>
            </a:r>
            <a:r>
              <a:rPr lang="en-US" dirty="0" err="1"/>
              <a:t>mystudents</a:t>
            </a:r>
            <a:r>
              <a:rPr lang="en-US" dirty="0"/>
              <a:t> (</a:t>
            </a:r>
          </a:p>
          <a:p>
            <a:r>
              <a:rPr lang="en-US" dirty="0"/>
              <a:t> id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r>
              <a:rPr lang="en-US" dirty="0"/>
              <a:t>  name text,</a:t>
            </a:r>
          </a:p>
          <a:p>
            <a:r>
              <a:rPr lang="en-US" dirty="0"/>
              <a:t>  </a:t>
            </a:r>
            <a:r>
              <a:rPr lang="en-US" dirty="0" err="1"/>
              <a:t>initilas</a:t>
            </a:r>
            <a:r>
              <a:rPr lang="en-US" dirty="0"/>
              <a:t> text,</a:t>
            </a:r>
          </a:p>
          <a:p>
            <a:r>
              <a:rPr lang="en-US" dirty="0"/>
              <a:t>  gender text,</a:t>
            </a:r>
          </a:p>
          <a:p>
            <a:r>
              <a:rPr lang="en-US" dirty="0">
                <a:solidFill>
                  <a:srgbClr val="FF0000"/>
                </a:solidFill>
              </a:rPr>
              <a:t>  PRIMARY KEY (id, name)</a:t>
            </a:r>
          </a:p>
          <a:p>
            <a:r>
              <a:rPr lang="en-US" dirty="0"/>
              <a:t>);</a:t>
            </a:r>
            <a:endParaRPr lang="en-ZA" dirty="0"/>
          </a:p>
        </p:txBody>
      </p:sp>
      <p:sp>
        <p:nvSpPr>
          <p:cNvPr id="3" name="Rectangle 2"/>
          <p:cNvSpPr/>
          <p:nvPr/>
        </p:nvSpPr>
        <p:spPr>
          <a:xfrm>
            <a:off x="1187624" y="5696154"/>
            <a:ext cx="6093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Verify Table Creation : </a:t>
            </a:r>
            <a:r>
              <a:rPr lang="en-ZA" dirty="0"/>
              <a:t>select * from </a:t>
            </a:r>
            <a:r>
              <a:rPr lang="en-ZA" dirty="0">
                <a:solidFill>
                  <a:srgbClr val="FF0000"/>
                </a:solidFill>
              </a:rPr>
              <a:t>Table Name</a:t>
            </a:r>
            <a:r>
              <a:rPr lang="en-ZA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2995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 Table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Syntax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ALTER (TABLE | COLUMNFAMILY) &lt;</a:t>
            </a:r>
            <a:r>
              <a:rPr lang="en-US" sz="2000" dirty="0" err="1">
                <a:solidFill>
                  <a:srgbClr val="FF0000"/>
                </a:solidFill>
              </a:rPr>
              <a:t>tablename</a:t>
            </a:r>
            <a:r>
              <a:rPr lang="en-US" sz="2000" dirty="0">
                <a:solidFill>
                  <a:srgbClr val="FF0000"/>
                </a:solidFill>
              </a:rPr>
              <a:t>&gt; &lt;instruction&gt;</a:t>
            </a:r>
          </a:p>
          <a:p>
            <a:pPr lvl="1"/>
            <a:r>
              <a:rPr lang="en-US" sz="2000" dirty="0"/>
              <a:t>The ALTER command can be used to perform the following operations: </a:t>
            </a:r>
          </a:p>
          <a:p>
            <a:pPr lvl="2"/>
            <a:r>
              <a:rPr lang="en-US" sz="1600" dirty="0"/>
              <a:t>Add a column</a:t>
            </a:r>
          </a:p>
          <a:p>
            <a:pPr lvl="2"/>
            <a:r>
              <a:rPr lang="en-US" sz="1600" dirty="0"/>
              <a:t>Drop a column</a:t>
            </a:r>
          </a:p>
          <a:p>
            <a:pPr lvl="1"/>
            <a:r>
              <a:rPr lang="en-US" sz="2000" dirty="0"/>
              <a:t>Example (Add Column)</a:t>
            </a:r>
          </a:p>
          <a:p>
            <a:pPr lvl="2"/>
            <a:r>
              <a:rPr lang="en-US" sz="1600" dirty="0">
                <a:solidFill>
                  <a:srgbClr val="FF0000"/>
                </a:solidFill>
              </a:rPr>
              <a:t>ALTER TABLE </a:t>
            </a:r>
            <a:r>
              <a:rPr lang="en-US" sz="1600" dirty="0" err="1">
                <a:solidFill>
                  <a:srgbClr val="FF0000"/>
                </a:solidFill>
              </a:rPr>
              <a:t>emp</a:t>
            </a:r>
            <a:r>
              <a:rPr lang="en-US" sz="1600" dirty="0">
                <a:solidFill>
                  <a:srgbClr val="FF0000"/>
                </a:solidFill>
              </a:rPr>
              <a:t> ADD </a:t>
            </a:r>
            <a:r>
              <a:rPr lang="en-US" sz="1600" dirty="0" err="1">
                <a:solidFill>
                  <a:srgbClr val="FF0000"/>
                </a:solidFill>
              </a:rPr>
              <a:t>emp_email</a:t>
            </a:r>
            <a:r>
              <a:rPr lang="en-US" sz="1600" dirty="0">
                <a:solidFill>
                  <a:srgbClr val="FF0000"/>
                </a:solidFill>
              </a:rPr>
              <a:t> text;</a:t>
            </a:r>
          </a:p>
          <a:p>
            <a:pPr lvl="1"/>
            <a:r>
              <a:rPr lang="en-US" sz="2000" dirty="0"/>
              <a:t>Example (Drop Column)</a:t>
            </a:r>
          </a:p>
          <a:p>
            <a:pPr lvl="2"/>
            <a:r>
              <a:rPr lang="en-ZA" sz="1600" dirty="0">
                <a:solidFill>
                  <a:srgbClr val="FF0000"/>
                </a:solidFill>
              </a:rPr>
              <a:t>ALTER TABLE </a:t>
            </a:r>
            <a:r>
              <a:rPr lang="en-ZA" sz="1600" dirty="0" err="1">
                <a:solidFill>
                  <a:srgbClr val="FF0000"/>
                </a:solidFill>
              </a:rPr>
              <a:t>emp</a:t>
            </a:r>
            <a:r>
              <a:rPr lang="en-ZA" sz="1600" dirty="0">
                <a:solidFill>
                  <a:srgbClr val="FF0000"/>
                </a:solidFill>
              </a:rPr>
              <a:t> DROP </a:t>
            </a:r>
            <a:r>
              <a:rPr lang="en-ZA" sz="1600" dirty="0" err="1">
                <a:solidFill>
                  <a:srgbClr val="FF0000"/>
                </a:solidFill>
              </a:rPr>
              <a:t>emp_email</a:t>
            </a:r>
            <a:r>
              <a:rPr lang="en-ZA" sz="1600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9632" y="5511488"/>
            <a:ext cx="6093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Verification : </a:t>
            </a:r>
            <a:r>
              <a:rPr lang="en-ZA" dirty="0"/>
              <a:t>select * from </a:t>
            </a:r>
            <a:r>
              <a:rPr lang="en-ZA" dirty="0">
                <a:solidFill>
                  <a:srgbClr val="FF0000"/>
                </a:solidFill>
              </a:rPr>
              <a:t>Table Name</a:t>
            </a:r>
            <a:r>
              <a:rPr lang="en-ZA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4200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Truncate &amp; Drop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Drop Table Syntax</a:t>
            </a:r>
          </a:p>
          <a:p>
            <a:pPr lvl="1"/>
            <a:r>
              <a:rPr lang="en-ZA" dirty="0"/>
              <a:t>DROP TABLE &lt;</a:t>
            </a:r>
            <a:r>
              <a:rPr lang="en-ZA" dirty="0" err="1"/>
              <a:t>tablename</a:t>
            </a:r>
            <a:r>
              <a:rPr lang="en-ZA" dirty="0"/>
              <a:t>&gt;</a:t>
            </a:r>
          </a:p>
          <a:p>
            <a:pPr lvl="1"/>
            <a:r>
              <a:rPr lang="en-ZA" dirty="0"/>
              <a:t>Example: </a:t>
            </a:r>
            <a:r>
              <a:rPr lang="en-ZA" dirty="0">
                <a:solidFill>
                  <a:srgbClr val="FF0000"/>
                </a:solidFill>
              </a:rPr>
              <a:t>DROP TABLE </a:t>
            </a:r>
            <a:r>
              <a:rPr lang="en-ZA" dirty="0" err="1">
                <a:solidFill>
                  <a:srgbClr val="FF0000"/>
                </a:solidFill>
              </a:rPr>
              <a:t>emp</a:t>
            </a:r>
            <a:r>
              <a:rPr lang="en-ZA" dirty="0">
                <a:solidFill>
                  <a:srgbClr val="FF0000"/>
                </a:solidFill>
              </a:rPr>
              <a:t>;</a:t>
            </a:r>
          </a:p>
          <a:p>
            <a:r>
              <a:rPr lang="en-ZA" dirty="0"/>
              <a:t>Truncate Table Syntax</a:t>
            </a:r>
          </a:p>
          <a:p>
            <a:pPr lvl="1"/>
            <a:r>
              <a:rPr lang="en-ZA" dirty="0"/>
              <a:t>TRUNCATE &lt;</a:t>
            </a:r>
            <a:r>
              <a:rPr lang="en-ZA" dirty="0" err="1"/>
              <a:t>tablename</a:t>
            </a:r>
            <a:r>
              <a:rPr lang="en-ZA" dirty="0"/>
              <a:t>&gt;</a:t>
            </a:r>
          </a:p>
          <a:p>
            <a:pPr lvl="1"/>
            <a:r>
              <a:rPr lang="en-ZA" dirty="0"/>
              <a:t>Example: </a:t>
            </a:r>
            <a:r>
              <a:rPr lang="en-ZA" dirty="0">
                <a:solidFill>
                  <a:srgbClr val="FF0000"/>
                </a:solidFill>
              </a:rPr>
              <a:t>TRUNCATE student;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9632" y="5142156"/>
            <a:ext cx="6093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Verify Drop : </a:t>
            </a:r>
            <a:r>
              <a:rPr lang="en-ZA" dirty="0"/>
              <a:t>select * from </a:t>
            </a:r>
            <a:r>
              <a:rPr lang="en-ZA" dirty="0">
                <a:solidFill>
                  <a:srgbClr val="FF0000"/>
                </a:solidFill>
              </a:rPr>
              <a:t>Table Name</a:t>
            </a:r>
            <a:r>
              <a:rPr lang="en-ZA" dirty="0"/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9928" y="5706526"/>
            <a:ext cx="6093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Verify Truncate : </a:t>
            </a:r>
            <a:r>
              <a:rPr lang="en-ZA" dirty="0">
                <a:solidFill>
                  <a:srgbClr val="FF0000"/>
                </a:solidFill>
              </a:rPr>
              <a:t>DESCRIBE COLUMNFAMILIES</a:t>
            </a:r>
            <a:r>
              <a:rPr lang="en-ZA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33134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Create &amp; Drop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b="1" dirty="0"/>
              <a:t>Create Index Syntax</a:t>
            </a:r>
          </a:p>
          <a:p>
            <a:pPr lvl="1"/>
            <a:r>
              <a:rPr lang="en-US" dirty="0"/>
              <a:t>CREATE INDEX &lt;identifier&gt; ON &lt;</a:t>
            </a:r>
            <a:r>
              <a:rPr lang="en-US" dirty="0" err="1"/>
              <a:t>tablename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Example: </a:t>
            </a:r>
            <a:r>
              <a:rPr lang="en-US" sz="2000" dirty="0">
                <a:solidFill>
                  <a:srgbClr val="FF0000"/>
                </a:solidFill>
              </a:rPr>
              <a:t>CREATE INDEX </a:t>
            </a:r>
            <a:r>
              <a:rPr lang="en-US" sz="2000" dirty="0">
                <a:solidFill>
                  <a:schemeClr val="accent1"/>
                </a:solidFill>
              </a:rPr>
              <a:t>name</a:t>
            </a:r>
            <a:r>
              <a:rPr lang="en-US" sz="2000" dirty="0">
                <a:solidFill>
                  <a:srgbClr val="FF0000"/>
                </a:solidFill>
              </a:rPr>
              <a:t> ON emp1 (</a:t>
            </a:r>
            <a:r>
              <a:rPr lang="en-US" sz="2000" dirty="0" err="1">
                <a:solidFill>
                  <a:srgbClr val="FF0000"/>
                </a:solidFill>
              </a:rPr>
              <a:t>emp_name</a:t>
            </a:r>
            <a:r>
              <a:rPr lang="en-US" sz="2000" dirty="0">
                <a:solidFill>
                  <a:srgbClr val="FF0000"/>
                </a:solidFill>
              </a:rPr>
              <a:t>);</a:t>
            </a:r>
          </a:p>
          <a:p>
            <a:r>
              <a:rPr lang="en-ZA" b="1" dirty="0"/>
              <a:t>Drop Index Syntax</a:t>
            </a:r>
          </a:p>
          <a:p>
            <a:pPr lvl="1"/>
            <a:r>
              <a:rPr lang="en-ZA" dirty="0"/>
              <a:t>DROP INDEX &lt;identifier&gt;</a:t>
            </a:r>
          </a:p>
          <a:p>
            <a:pPr lvl="1"/>
            <a:r>
              <a:rPr lang="en-ZA" dirty="0"/>
              <a:t>Example: </a:t>
            </a:r>
            <a:r>
              <a:rPr lang="en-ZA" dirty="0">
                <a:solidFill>
                  <a:srgbClr val="FF0000"/>
                </a:solidFill>
              </a:rPr>
              <a:t>drop index</a:t>
            </a:r>
            <a:r>
              <a:rPr lang="en-ZA" dirty="0">
                <a:solidFill>
                  <a:schemeClr val="accent1"/>
                </a:solidFill>
              </a:rPr>
              <a:t> name</a:t>
            </a:r>
            <a:r>
              <a:rPr lang="en-ZA" dirty="0">
                <a:solidFill>
                  <a:srgbClr val="FF0000"/>
                </a:solidFill>
              </a:rPr>
              <a:t>;</a:t>
            </a:r>
          </a:p>
          <a:p>
            <a:pPr marL="457200" lvl="1" indent="0">
              <a:buNone/>
            </a:pPr>
            <a:endParaRPr lang="en-ZA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894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Inserting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Syntax:</a:t>
            </a:r>
          </a:p>
          <a:p>
            <a:pPr lvl="1"/>
            <a:r>
              <a:rPr lang="en-US" dirty="0"/>
              <a:t>INSERT INTO &lt;</a:t>
            </a:r>
            <a:r>
              <a:rPr lang="en-US" dirty="0" err="1"/>
              <a:t>tablename</a:t>
            </a:r>
            <a:r>
              <a:rPr lang="en-US" dirty="0"/>
              <a:t>&gt; (&lt;column1 name&gt;, &lt;column2 name&gt;....) VALUES (&lt;value1&gt;, &lt;value2&gt;....) USING &lt;option&gt;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INSERT INTO </a:t>
            </a:r>
            <a:r>
              <a:rPr lang="en-US" dirty="0" err="1">
                <a:solidFill>
                  <a:srgbClr val="FF0000"/>
                </a:solidFill>
              </a:rPr>
              <a:t>emp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emp_id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emp_name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emp_city</a:t>
            </a:r>
            <a:r>
              <a:rPr lang="en-US" dirty="0">
                <a:solidFill>
                  <a:srgbClr val="FF0000"/>
                </a:solidFill>
              </a:rPr>
              <a:t>,  </a:t>
            </a:r>
            <a:r>
              <a:rPr lang="en-US" dirty="0" err="1">
                <a:solidFill>
                  <a:srgbClr val="FF0000"/>
                </a:solidFill>
              </a:rPr>
              <a:t>emp_phone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emp_sal</a:t>
            </a:r>
            <a:r>
              <a:rPr lang="en-US" dirty="0">
                <a:solidFill>
                  <a:srgbClr val="FF0000"/>
                </a:solidFill>
              </a:rPr>
              <a:t>) VALUES(1,‘Thabo', ‘Limpopo', 0848022338, 50000);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INSERT INTO </a:t>
            </a:r>
            <a:r>
              <a:rPr lang="en-US" dirty="0" err="1">
                <a:solidFill>
                  <a:srgbClr val="FF0000"/>
                </a:solidFill>
              </a:rPr>
              <a:t>emp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emp_id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emp_name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emp_city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emp_phone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emp_sal</a:t>
            </a:r>
            <a:r>
              <a:rPr lang="en-US" dirty="0">
                <a:solidFill>
                  <a:srgbClr val="FF0000"/>
                </a:solidFill>
              </a:rPr>
              <a:t>) VALUES(2,'Thomas', 'Kimberley', 0848022339, 40000);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63688" y="6021288"/>
            <a:ext cx="6093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Verification  : </a:t>
            </a:r>
            <a:r>
              <a:rPr lang="en-ZA" dirty="0"/>
              <a:t>select * from </a:t>
            </a:r>
            <a:r>
              <a:rPr lang="en-ZA" dirty="0" err="1">
                <a:solidFill>
                  <a:srgbClr val="FF0000"/>
                </a:solidFill>
              </a:rPr>
              <a:t>emp</a:t>
            </a:r>
            <a:r>
              <a:rPr lang="en-ZA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871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Updating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b="1" dirty="0"/>
              <a:t>Syntax</a:t>
            </a:r>
            <a:r>
              <a:rPr lang="en-ZA" dirty="0"/>
              <a:t>:</a:t>
            </a:r>
          </a:p>
          <a:p>
            <a:pPr lvl="1"/>
            <a:r>
              <a:rPr lang="en-US" sz="2400" dirty="0">
                <a:solidFill>
                  <a:schemeClr val="accent1"/>
                </a:solidFill>
              </a:rPr>
              <a:t>UPDATE &lt;</a:t>
            </a:r>
            <a:r>
              <a:rPr lang="en-US" sz="2400" dirty="0" err="1">
                <a:solidFill>
                  <a:schemeClr val="accent1"/>
                </a:solidFill>
              </a:rPr>
              <a:t>tablename</a:t>
            </a:r>
            <a:r>
              <a:rPr lang="en-US" sz="2400" dirty="0">
                <a:solidFill>
                  <a:schemeClr val="accent1"/>
                </a:solidFill>
              </a:rPr>
              <a:t>&gt; SET &lt;column name&gt; = &lt;new value&gt; &lt;column name&gt; = &lt;value&gt;.... WHERE &lt;condition&gt;</a:t>
            </a:r>
          </a:p>
          <a:p>
            <a:pPr lvl="1"/>
            <a:r>
              <a:rPr lang="en-US" sz="2400" b="1" dirty="0"/>
              <a:t>Example</a:t>
            </a:r>
            <a:r>
              <a:rPr lang="en-US" sz="2400" dirty="0"/>
              <a:t>:</a:t>
            </a:r>
          </a:p>
          <a:p>
            <a:pPr lvl="2"/>
            <a:r>
              <a:rPr lang="en-US" sz="2000" dirty="0">
                <a:solidFill>
                  <a:srgbClr val="FF0000"/>
                </a:solidFill>
              </a:rPr>
              <a:t>UPDATE </a:t>
            </a:r>
            <a:r>
              <a:rPr lang="en-US" sz="2000" dirty="0" err="1">
                <a:solidFill>
                  <a:srgbClr val="FF0000"/>
                </a:solidFill>
              </a:rPr>
              <a:t>emp</a:t>
            </a:r>
            <a:r>
              <a:rPr lang="en-US" sz="2000" dirty="0">
                <a:solidFill>
                  <a:srgbClr val="FF0000"/>
                </a:solidFill>
              </a:rPr>
              <a:t> SET </a:t>
            </a:r>
            <a:r>
              <a:rPr lang="en-US" sz="2000" dirty="0" err="1">
                <a:solidFill>
                  <a:srgbClr val="FF0000"/>
                </a:solidFill>
              </a:rPr>
              <a:t>emp_city</a:t>
            </a:r>
            <a:r>
              <a:rPr lang="en-US" sz="2000" dirty="0">
                <a:solidFill>
                  <a:srgbClr val="FF0000"/>
                </a:solidFill>
              </a:rPr>
              <a:t>=‘Pretoria',</a:t>
            </a:r>
            <a:r>
              <a:rPr lang="en-US" sz="2000" dirty="0" err="1">
                <a:solidFill>
                  <a:srgbClr val="FF0000"/>
                </a:solidFill>
              </a:rPr>
              <a:t>emp_sal</a:t>
            </a:r>
            <a:r>
              <a:rPr lang="en-US" sz="2000" dirty="0">
                <a:solidFill>
                  <a:srgbClr val="FF0000"/>
                </a:solidFill>
              </a:rPr>
              <a:t>=50000 WHERE </a:t>
            </a:r>
            <a:r>
              <a:rPr lang="en-US" sz="2000" dirty="0" err="1">
                <a:solidFill>
                  <a:srgbClr val="FF0000"/>
                </a:solidFill>
              </a:rPr>
              <a:t>emp_id</a:t>
            </a:r>
            <a:r>
              <a:rPr lang="en-US" sz="2000" dirty="0">
                <a:solidFill>
                  <a:srgbClr val="FF0000"/>
                </a:solidFill>
              </a:rPr>
              <a:t>=2;</a:t>
            </a:r>
            <a:endParaRPr lang="en-ZA" sz="2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03648" y="4797152"/>
            <a:ext cx="6093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Verification  : </a:t>
            </a:r>
            <a:r>
              <a:rPr lang="en-ZA" dirty="0"/>
              <a:t>select * from </a:t>
            </a:r>
            <a:r>
              <a:rPr lang="en-ZA" dirty="0" err="1">
                <a:solidFill>
                  <a:srgbClr val="FF0000"/>
                </a:solidFill>
              </a:rPr>
              <a:t>emp</a:t>
            </a:r>
            <a:r>
              <a:rPr lang="en-ZA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56842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Reading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Syntax:</a:t>
            </a:r>
          </a:p>
          <a:p>
            <a:pPr lvl="1"/>
            <a:r>
              <a:rPr lang="en-ZA" sz="2200" dirty="0"/>
              <a:t>SELECT FROM &lt;</a:t>
            </a:r>
            <a:r>
              <a:rPr lang="en-ZA" sz="2200" dirty="0" err="1"/>
              <a:t>tablename</a:t>
            </a:r>
            <a:r>
              <a:rPr lang="en-ZA" sz="2200" dirty="0"/>
              <a:t>&gt;</a:t>
            </a:r>
          </a:p>
          <a:p>
            <a:pPr lvl="1"/>
            <a:r>
              <a:rPr lang="en-ZA" sz="2200" dirty="0"/>
              <a:t>Example:</a:t>
            </a:r>
          </a:p>
          <a:p>
            <a:pPr lvl="2"/>
            <a:r>
              <a:rPr lang="en-ZA" dirty="0">
                <a:solidFill>
                  <a:srgbClr val="FF0000"/>
                </a:solidFill>
              </a:rPr>
              <a:t>select * from </a:t>
            </a:r>
            <a:r>
              <a:rPr lang="en-ZA" dirty="0" err="1">
                <a:solidFill>
                  <a:srgbClr val="FF0000"/>
                </a:solidFill>
              </a:rPr>
              <a:t>emp</a:t>
            </a:r>
            <a:r>
              <a:rPr lang="en-ZA" dirty="0">
                <a:solidFill>
                  <a:srgbClr val="FF0000"/>
                </a:solidFill>
              </a:rPr>
              <a:t>;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SELECT </a:t>
            </a:r>
            <a:r>
              <a:rPr lang="en-US" dirty="0" err="1">
                <a:solidFill>
                  <a:srgbClr val="FF0000"/>
                </a:solidFill>
              </a:rPr>
              <a:t>emp_name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emp_sal</a:t>
            </a:r>
            <a:r>
              <a:rPr lang="en-US" dirty="0">
                <a:solidFill>
                  <a:srgbClr val="FF0000"/>
                </a:solidFill>
              </a:rPr>
              <a:t> from </a:t>
            </a:r>
            <a:r>
              <a:rPr lang="en-US" dirty="0" err="1">
                <a:solidFill>
                  <a:srgbClr val="FF0000"/>
                </a:solidFill>
              </a:rPr>
              <a:t>emp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r>
              <a:rPr lang="en-ZA" dirty="0"/>
              <a:t>Where Clause Syntax:</a:t>
            </a:r>
          </a:p>
          <a:p>
            <a:pPr lvl="1"/>
            <a:r>
              <a:rPr lang="en-US" sz="2000" dirty="0"/>
              <a:t>SELECT FROM &lt;table name&gt; WHERE &lt;condition&gt;;</a:t>
            </a:r>
          </a:p>
          <a:p>
            <a:pPr lvl="2"/>
            <a:r>
              <a:rPr lang="en-US" sz="1600" dirty="0"/>
              <a:t>A WHERE clause can be used only on the columns that are a part of primary key or have a secondary index on them</a:t>
            </a:r>
          </a:p>
          <a:p>
            <a:pPr lvl="1"/>
            <a:r>
              <a:rPr lang="en-ZA" sz="2000" dirty="0"/>
              <a:t>Example</a:t>
            </a:r>
          </a:p>
          <a:p>
            <a:pPr lvl="2"/>
            <a:r>
              <a:rPr lang="en-ZA" sz="1600" dirty="0">
                <a:solidFill>
                  <a:srgbClr val="FF0000"/>
                </a:solidFill>
              </a:rPr>
              <a:t>CREATE INDEX ON </a:t>
            </a:r>
            <a:r>
              <a:rPr lang="en-ZA" sz="1600" dirty="0" err="1">
                <a:solidFill>
                  <a:srgbClr val="FF0000"/>
                </a:solidFill>
              </a:rPr>
              <a:t>emp</a:t>
            </a:r>
            <a:r>
              <a:rPr lang="en-ZA" sz="1600" dirty="0">
                <a:solidFill>
                  <a:srgbClr val="FF0000"/>
                </a:solidFill>
              </a:rPr>
              <a:t>(</a:t>
            </a:r>
            <a:r>
              <a:rPr lang="en-ZA" sz="1600" dirty="0" err="1">
                <a:solidFill>
                  <a:srgbClr val="FF0000"/>
                </a:solidFill>
              </a:rPr>
              <a:t>emp_sal</a:t>
            </a:r>
            <a:r>
              <a:rPr lang="en-ZA" sz="1600" dirty="0">
                <a:solidFill>
                  <a:srgbClr val="FF0000"/>
                </a:solidFill>
              </a:rPr>
              <a:t>);</a:t>
            </a:r>
          </a:p>
          <a:p>
            <a:pPr lvl="2"/>
            <a:r>
              <a:rPr lang="en-US" sz="1600" dirty="0">
                <a:solidFill>
                  <a:srgbClr val="FF0000"/>
                </a:solidFill>
              </a:rPr>
              <a:t>SELECT * FROM </a:t>
            </a:r>
            <a:r>
              <a:rPr lang="en-US" sz="1600" dirty="0" err="1">
                <a:solidFill>
                  <a:srgbClr val="FF0000"/>
                </a:solidFill>
              </a:rPr>
              <a:t>emp</a:t>
            </a:r>
            <a:r>
              <a:rPr lang="en-US" sz="1600" dirty="0">
                <a:solidFill>
                  <a:srgbClr val="FF0000"/>
                </a:solidFill>
              </a:rPr>
              <a:t> WHERE </a:t>
            </a:r>
            <a:r>
              <a:rPr lang="en-US" sz="1600" dirty="0" err="1">
                <a:solidFill>
                  <a:srgbClr val="FF0000"/>
                </a:solidFill>
              </a:rPr>
              <a:t>emp_sal</a:t>
            </a:r>
            <a:r>
              <a:rPr lang="en-US" sz="1600" dirty="0">
                <a:solidFill>
                  <a:srgbClr val="FF0000"/>
                </a:solidFill>
              </a:rPr>
              <a:t>=50000;</a:t>
            </a:r>
            <a:endParaRPr lang="en-ZA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748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Deleting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Syntax:</a:t>
            </a:r>
          </a:p>
          <a:p>
            <a:pPr lvl="1"/>
            <a:r>
              <a:rPr lang="en-US" sz="2000" dirty="0"/>
              <a:t>DELETE FROM &lt;identifier&gt; WHERE &lt;condition&gt;;</a:t>
            </a:r>
          </a:p>
          <a:p>
            <a:pPr lvl="1"/>
            <a:r>
              <a:rPr lang="en-US" sz="2000" dirty="0"/>
              <a:t>Example: </a:t>
            </a:r>
          </a:p>
          <a:p>
            <a:pPr lvl="2"/>
            <a:r>
              <a:rPr lang="en-US" sz="1600" dirty="0">
                <a:solidFill>
                  <a:srgbClr val="FF0000"/>
                </a:solidFill>
              </a:rPr>
              <a:t>DELETE </a:t>
            </a:r>
            <a:r>
              <a:rPr lang="en-US" sz="1600" dirty="0" err="1">
                <a:solidFill>
                  <a:srgbClr val="FF0000"/>
                </a:solidFill>
              </a:rPr>
              <a:t>emp_sal</a:t>
            </a:r>
            <a:r>
              <a:rPr lang="en-US" sz="1600" dirty="0">
                <a:solidFill>
                  <a:srgbClr val="FF0000"/>
                </a:solidFill>
              </a:rPr>
              <a:t> FROM </a:t>
            </a:r>
            <a:r>
              <a:rPr lang="en-US" sz="1600" dirty="0" err="1">
                <a:solidFill>
                  <a:srgbClr val="FF0000"/>
                </a:solidFill>
              </a:rPr>
              <a:t>emp</a:t>
            </a:r>
            <a:r>
              <a:rPr lang="en-US" sz="1600" dirty="0">
                <a:solidFill>
                  <a:srgbClr val="FF0000"/>
                </a:solidFill>
              </a:rPr>
              <a:t> WHERE </a:t>
            </a:r>
            <a:r>
              <a:rPr lang="en-US" sz="1600" dirty="0" err="1">
                <a:solidFill>
                  <a:srgbClr val="FF0000"/>
                </a:solidFill>
              </a:rPr>
              <a:t>emp_id</a:t>
            </a:r>
            <a:r>
              <a:rPr lang="en-US" sz="1600" dirty="0">
                <a:solidFill>
                  <a:srgbClr val="FF0000"/>
                </a:solidFill>
              </a:rPr>
              <a:t>=1;</a:t>
            </a:r>
          </a:p>
          <a:p>
            <a:pPr lvl="2"/>
            <a:r>
              <a:rPr lang="en-US" sz="1600" dirty="0">
                <a:solidFill>
                  <a:srgbClr val="FF0000"/>
                </a:solidFill>
              </a:rPr>
              <a:t>DELETE FROM </a:t>
            </a:r>
            <a:r>
              <a:rPr lang="en-US" sz="1600" dirty="0" err="1">
                <a:solidFill>
                  <a:srgbClr val="FF0000"/>
                </a:solidFill>
              </a:rPr>
              <a:t>emp</a:t>
            </a:r>
            <a:r>
              <a:rPr lang="en-US" sz="1600" dirty="0">
                <a:solidFill>
                  <a:srgbClr val="FF0000"/>
                </a:solidFill>
              </a:rPr>
              <a:t> WHERE </a:t>
            </a:r>
            <a:r>
              <a:rPr lang="en-US" sz="1600" dirty="0" err="1">
                <a:solidFill>
                  <a:srgbClr val="FF0000"/>
                </a:solidFill>
              </a:rPr>
              <a:t>emp_id</a:t>
            </a:r>
            <a:r>
              <a:rPr lang="en-US" sz="1600" dirty="0">
                <a:solidFill>
                  <a:srgbClr val="FF0000"/>
                </a:solidFill>
              </a:rPr>
              <a:t>=1;</a:t>
            </a:r>
            <a:endParaRPr lang="en-ZA" sz="16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03648" y="4797152"/>
            <a:ext cx="6093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Verification  : </a:t>
            </a:r>
            <a:r>
              <a:rPr lang="en-ZA" dirty="0"/>
              <a:t>select * from </a:t>
            </a:r>
            <a:r>
              <a:rPr lang="en-ZA" dirty="0" err="1">
                <a:solidFill>
                  <a:srgbClr val="FF0000"/>
                </a:solidFill>
              </a:rPr>
              <a:t>emp</a:t>
            </a:r>
            <a:r>
              <a:rPr lang="en-ZA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92270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Batch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BATCH allows you to execute multiple modification statements (insert, update, delete) simultaneously. </a:t>
            </a:r>
          </a:p>
          <a:p>
            <a:r>
              <a:rPr lang="en-US" sz="2000" dirty="0"/>
              <a:t>Syntax:</a:t>
            </a:r>
          </a:p>
          <a:p>
            <a:pPr lvl="1"/>
            <a:r>
              <a:rPr lang="en-US" sz="1600" b="1" dirty="0"/>
              <a:t>BEGIN BATCH </a:t>
            </a:r>
            <a:r>
              <a:rPr lang="en-US" sz="1600" dirty="0"/>
              <a:t>&lt;insert-</a:t>
            </a:r>
            <a:r>
              <a:rPr lang="en-US" sz="1600" dirty="0" err="1"/>
              <a:t>stmt</a:t>
            </a:r>
            <a:r>
              <a:rPr lang="en-US" sz="1600" dirty="0"/>
              <a:t>&gt;/ &lt;update-</a:t>
            </a:r>
            <a:r>
              <a:rPr lang="en-US" sz="1600" dirty="0" err="1"/>
              <a:t>stmt</a:t>
            </a:r>
            <a:r>
              <a:rPr lang="en-US" sz="1600" dirty="0"/>
              <a:t>&gt;/ &lt;delete-</a:t>
            </a:r>
            <a:r>
              <a:rPr lang="en-US" sz="1600" dirty="0" err="1"/>
              <a:t>stmt</a:t>
            </a:r>
            <a:r>
              <a:rPr lang="en-US" sz="1600" dirty="0"/>
              <a:t>&gt; </a:t>
            </a:r>
            <a:r>
              <a:rPr lang="en-US" sz="1600" b="1" dirty="0"/>
              <a:t>APPLY BATCH</a:t>
            </a:r>
          </a:p>
          <a:p>
            <a:pPr lvl="1"/>
            <a:r>
              <a:rPr lang="en-US" sz="1600" b="1" dirty="0"/>
              <a:t>Example:</a:t>
            </a:r>
          </a:p>
          <a:p>
            <a:pPr marL="457200" lvl="1" indent="0">
              <a:buNone/>
            </a:pPr>
            <a:endParaRPr lang="en-ZA" sz="1600" dirty="0">
              <a:solidFill>
                <a:srgbClr val="000088"/>
              </a:solidFill>
            </a:endParaRPr>
          </a:p>
          <a:p>
            <a:pPr marL="457200" lvl="1" indent="0">
              <a:buNone/>
            </a:pPr>
            <a:r>
              <a:rPr lang="en-ZA" sz="1600" dirty="0">
                <a:solidFill>
                  <a:srgbClr val="FF0000"/>
                </a:solidFill>
              </a:rPr>
              <a:t>BEGIN BATCH </a:t>
            </a:r>
          </a:p>
          <a:p>
            <a:pPr marL="457200" lvl="1" indent="0">
              <a:buNone/>
            </a:pPr>
            <a:r>
              <a:rPr lang="en-ZA" sz="1600" dirty="0">
                <a:solidFill>
                  <a:srgbClr val="FF0000"/>
                </a:solidFill>
              </a:rPr>
              <a:t>... INSERT INTO </a:t>
            </a:r>
            <a:r>
              <a:rPr lang="en-ZA" sz="1600" dirty="0" err="1">
                <a:solidFill>
                  <a:srgbClr val="FF0000"/>
                </a:solidFill>
              </a:rPr>
              <a:t>emp</a:t>
            </a:r>
            <a:r>
              <a:rPr lang="en-ZA" sz="1600" dirty="0">
                <a:solidFill>
                  <a:srgbClr val="FF0000"/>
                </a:solidFill>
              </a:rPr>
              <a:t> (</a:t>
            </a:r>
            <a:r>
              <a:rPr lang="en-ZA" sz="1600" dirty="0" err="1">
                <a:solidFill>
                  <a:srgbClr val="FF0000"/>
                </a:solidFill>
              </a:rPr>
              <a:t>emp_id</a:t>
            </a:r>
            <a:r>
              <a:rPr lang="en-ZA" sz="1600" dirty="0">
                <a:solidFill>
                  <a:srgbClr val="FF0000"/>
                </a:solidFill>
              </a:rPr>
              <a:t>, </a:t>
            </a:r>
            <a:r>
              <a:rPr lang="en-ZA" sz="1600" dirty="0" err="1">
                <a:solidFill>
                  <a:srgbClr val="FF0000"/>
                </a:solidFill>
              </a:rPr>
              <a:t>emp_city</a:t>
            </a:r>
            <a:r>
              <a:rPr lang="en-ZA" sz="1600" dirty="0">
                <a:solidFill>
                  <a:srgbClr val="FF0000"/>
                </a:solidFill>
              </a:rPr>
              <a:t>, </a:t>
            </a:r>
            <a:r>
              <a:rPr lang="en-ZA" sz="1600" dirty="0" err="1">
                <a:solidFill>
                  <a:srgbClr val="FF0000"/>
                </a:solidFill>
              </a:rPr>
              <a:t>emp_name</a:t>
            </a:r>
            <a:r>
              <a:rPr lang="en-ZA" sz="1600" dirty="0">
                <a:solidFill>
                  <a:srgbClr val="FF0000"/>
                </a:solidFill>
              </a:rPr>
              <a:t>, </a:t>
            </a:r>
            <a:r>
              <a:rPr lang="en-ZA" sz="1600" dirty="0" err="1">
                <a:solidFill>
                  <a:srgbClr val="FF0000"/>
                </a:solidFill>
              </a:rPr>
              <a:t>emp_phone</a:t>
            </a:r>
            <a:r>
              <a:rPr lang="en-ZA" sz="1600" dirty="0">
                <a:solidFill>
                  <a:srgbClr val="FF0000"/>
                </a:solidFill>
              </a:rPr>
              <a:t>, </a:t>
            </a:r>
            <a:r>
              <a:rPr lang="en-ZA" sz="1600" dirty="0" err="1">
                <a:solidFill>
                  <a:srgbClr val="FF0000"/>
                </a:solidFill>
              </a:rPr>
              <a:t>emp_sal</a:t>
            </a:r>
            <a:r>
              <a:rPr lang="en-ZA" sz="1600" dirty="0">
                <a:solidFill>
                  <a:srgbClr val="FF0000"/>
                </a:solidFill>
              </a:rPr>
              <a:t>) values( 4,‘Kimberley',‘Jacob',0848022331, 30000); </a:t>
            </a:r>
          </a:p>
          <a:p>
            <a:pPr marL="457200" lvl="1" indent="0">
              <a:buNone/>
            </a:pPr>
            <a:r>
              <a:rPr lang="en-ZA" sz="1600" dirty="0">
                <a:solidFill>
                  <a:srgbClr val="FF0000"/>
                </a:solidFill>
              </a:rPr>
              <a:t>... UPDATE </a:t>
            </a:r>
            <a:r>
              <a:rPr lang="en-ZA" sz="1600" dirty="0" err="1">
                <a:solidFill>
                  <a:srgbClr val="FF0000"/>
                </a:solidFill>
              </a:rPr>
              <a:t>emp</a:t>
            </a:r>
            <a:r>
              <a:rPr lang="en-ZA" sz="1600" dirty="0">
                <a:solidFill>
                  <a:srgbClr val="FF0000"/>
                </a:solidFill>
              </a:rPr>
              <a:t> SET </a:t>
            </a:r>
            <a:r>
              <a:rPr lang="en-ZA" sz="1600" dirty="0" err="1">
                <a:solidFill>
                  <a:srgbClr val="FF0000"/>
                </a:solidFill>
              </a:rPr>
              <a:t>emp_sal</a:t>
            </a:r>
            <a:r>
              <a:rPr lang="en-ZA" sz="1600" dirty="0">
                <a:solidFill>
                  <a:srgbClr val="FF0000"/>
                </a:solidFill>
              </a:rPr>
              <a:t> = 70000 WHERE </a:t>
            </a:r>
            <a:r>
              <a:rPr lang="en-ZA" sz="1600" dirty="0" err="1">
                <a:solidFill>
                  <a:srgbClr val="FF0000"/>
                </a:solidFill>
              </a:rPr>
              <a:t>emp_id</a:t>
            </a:r>
            <a:r>
              <a:rPr lang="en-ZA" sz="1600" dirty="0">
                <a:solidFill>
                  <a:srgbClr val="FF0000"/>
                </a:solidFill>
              </a:rPr>
              <a:t> =1; </a:t>
            </a:r>
          </a:p>
          <a:p>
            <a:pPr marL="457200" lvl="1" indent="0">
              <a:buNone/>
            </a:pPr>
            <a:r>
              <a:rPr lang="en-ZA" sz="1600" dirty="0">
                <a:solidFill>
                  <a:srgbClr val="FF0000"/>
                </a:solidFill>
              </a:rPr>
              <a:t>... DELETE </a:t>
            </a:r>
            <a:r>
              <a:rPr lang="en-ZA" sz="1600" dirty="0" err="1">
                <a:solidFill>
                  <a:srgbClr val="FF0000"/>
                </a:solidFill>
              </a:rPr>
              <a:t>emp_city</a:t>
            </a:r>
            <a:r>
              <a:rPr lang="en-ZA" sz="1600" dirty="0">
                <a:solidFill>
                  <a:srgbClr val="FF0000"/>
                </a:solidFill>
              </a:rPr>
              <a:t> FROM </a:t>
            </a:r>
            <a:r>
              <a:rPr lang="en-ZA" sz="1600" dirty="0" err="1">
                <a:solidFill>
                  <a:srgbClr val="FF0000"/>
                </a:solidFill>
              </a:rPr>
              <a:t>emp</a:t>
            </a:r>
            <a:r>
              <a:rPr lang="en-ZA" sz="1600" dirty="0">
                <a:solidFill>
                  <a:srgbClr val="FF0000"/>
                </a:solidFill>
              </a:rPr>
              <a:t> WHERE </a:t>
            </a:r>
            <a:r>
              <a:rPr lang="en-ZA" sz="1600" dirty="0" err="1">
                <a:solidFill>
                  <a:srgbClr val="FF0000"/>
                </a:solidFill>
              </a:rPr>
              <a:t>emp_id</a:t>
            </a:r>
            <a:r>
              <a:rPr lang="en-ZA" sz="1600" dirty="0">
                <a:solidFill>
                  <a:srgbClr val="FF0000"/>
                </a:solidFill>
              </a:rPr>
              <a:t> = 2; ... APPLY BATCH;</a:t>
            </a:r>
            <a:endParaRPr lang="en-ZA" sz="16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19672" y="5445224"/>
            <a:ext cx="6093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Verification  : </a:t>
            </a:r>
            <a:r>
              <a:rPr lang="en-ZA" dirty="0"/>
              <a:t>select * from </a:t>
            </a:r>
            <a:r>
              <a:rPr lang="en-ZA" dirty="0" err="1">
                <a:solidFill>
                  <a:srgbClr val="FF0000"/>
                </a:solidFill>
              </a:rPr>
              <a:t>emp</a:t>
            </a:r>
            <a:r>
              <a:rPr lang="en-ZA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32065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CQL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CQL collections include List, Sets and Maps</a:t>
            </a:r>
          </a:p>
          <a:p>
            <a:pPr lvl="1"/>
            <a:r>
              <a:rPr lang="en-US" dirty="0"/>
              <a:t>Using these Collection types, you can store multiple values in a single variable.</a:t>
            </a:r>
          </a:p>
          <a:p>
            <a:r>
              <a:rPr lang="en-US" dirty="0"/>
              <a:t>Creating a Table with </a:t>
            </a:r>
            <a:r>
              <a:rPr lang="en-US" dirty="0">
                <a:solidFill>
                  <a:srgbClr val="FF0000"/>
                </a:solidFill>
              </a:rPr>
              <a:t>List</a:t>
            </a:r>
          </a:p>
          <a:p>
            <a:pPr lvl="1"/>
            <a:r>
              <a:rPr lang="en-US" sz="1800" dirty="0"/>
              <a:t>List is used in the cases where</a:t>
            </a:r>
          </a:p>
          <a:p>
            <a:pPr lvl="2"/>
            <a:r>
              <a:rPr lang="en-US" sz="1800" dirty="0"/>
              <a:t>The order of the elements is to be maintained, and</a:t>
            </a:r>
          </a:p>
          <a:p>
            <a:pPr lvl="2"/>
            <a:r>
              <a:rPr lang="en-US" sz="1800" dirty="0"/>
              <a:t>A value is to be stored multiple times</a:t>
            </a:r>
            <a:r>
              <a:rPr lang="en-US" dirty="0"/>
              <a:t>.</a:t>
            </a:r>
          </a:p>
          <a:p>
            <a:pPr lvl="1"/>
            <a:r>
              <a:rPr lang="en-US" sz="2000" b="1" dirty="0"/>
              <a:t>Example: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</a:rPr>
              <a:t>CREATE TABLE data(name text PRIMARY KEY, email </a:t>
            </a:r>
            <a:r>
              <a:rPr lang="en-US" sz="1400" dirty="0">
                <a:solidFill>
                  <a:schemeClr val="accent1"/>
                </a:solidFill>
              </a:rPr>
              <a:t>list&lt;text&gt;);</a:t>
            </a:r>
            <a:endParaRPr lang="en-ZA" sz="1400" dirty="0">
              <a:solidFill>
                <a:schemeClr val="accent1"/>
              </a:solidFill>
            </a:endParaRPr>
          </a:p>
          <a:p>
            <a:pPr lvl="2"/>
            <a:r>
              <a:rPr lang="en-US" sz="1400" dirty="0">
                <a:solidFill>
                  <a:srgbClr val="FF0000"/>
                </a:solidFill>
              </a:rPr>
              <a:t>INSERT INTO data(name, email) VALUES (‘</a:t>
            </a:r>
            <a:r>
              <a:rPr lang="en-US" sz="1400" dirty="0" err="1">
                <a:solidFill>
                  <a:srgbClr val="FF0000"/>
                </a:solidFill>
              </a:rPr>
              <a:t>Lerato</a:t>
            </a:r>
            <a:r>
              <a:rPr lang="en-US" sz="1400" dirty="0">
                <a:solidFill>
                  <a:srgbClr val="FF0000"/>
                </a:solidFill>
              </a:rPr>
              <a:t>', </a:t>
            </a:r>
            <a:r>
              <a:rPr lang="en-US" sz="1400" dirty="0">
                <a:solidFill>
                  <a:schemeClr val="accent1"/>
                </a:solidFill>
              </a:rPr>
              <a:t>['</a:t>
            </a:r>
            <a:r>
              <a:rPr lang="en-US" sz="1400" dirty="0" err="1">
                <a:solidFill>
                  <a:schemeClr val="accent1"/>
                </a:solidFill>
              </a:rPr>
              <a:t>abc@gmail.com','cba@yahoo.com</a:t>
            </a:r>
            <a:r>
              <a:rPr lang="en-US" sz="1400" dirty="0">
                <a:solidFill>
                  <a:schemeClr val="accent1"/>
                </a:solidFill>
              </a:rPr>
              <a:t>'])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</a:rPr>
              <a:t>UPDATE data SET email = email +['xyz@spu.ac.za']  where name = ‘</a:t>
            </a:r>
            <a:r>
              <a:rPr lang="en-US" sz="1400" dirty="0" err="1">
                <a:solidFill>
                  <a:srgbClr val="FF0000"/>
                </a:solidFill>
              </a:rPr>
              <a:t>Lerato</a:t>
            </a:r>
            <a:r>
              <a:rPr lang="en-US" sz="1400" dirty="0">
                <a:solidFill>
                  <a:srgbClr val="FF0000"/>
                </a:solidFill>
              </a:rPr>
              <a:t>';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284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r>
              <a:rPr lang="en-ZA" sz="2400" b="1" dirty="0"/>
              <a:t>Using </a:t>
            </a:r>
            <a:r>
              <a:rPr lang="en-ZA" sz="2400" b="1" dirty="0">
                <a:solidFill>
                  <a:schemeClr val="accent1"/>
                </a:solidFill>
              </a:rPr>
              <a:t>SET</a:t>
            </a:r>
          </a:p>
          <a:p>
            <a:pPr lvl="1"/>
            <a:r>
              <a:rPr lang="en-US" sz="1800" dirty="0"/>
              <a:t>Set is a data type that is used to store a group of elements. The elements of a set will be returned in a sorted order.</a:t>
            </a:r>
          </a:p>
          <a:p>
            <a:pPr lvl="1"/>
            <a:endParaRPr lang="en-US" sz="1800" dirty="0"/>
          </a:p>
          <a:p>
            <a:pPr lvl="2"/>
            <a:r>
              <a:rPr lang="en-US" sz="1200" dirty="0">
                <a:solidFill>
                  <a:srgbClr val="FF0000"/>
                </a:solidFill>
              </a:rPr>
              <a:t>CREATE TABLE data2 (name text PRIMARY KEY, phone set&lt;</a:t>
            </a:r>
            <a:r>
              <a:rPr lang="en-US" sz="1200" dirty="0" err="1">
                <a:solidFill>
                  <a:srgbClr val="FF0000"/>
                </a:solidFill>
              </a:rPr>
              <a:t>varint</a:t>
            </a:r>
            <a:r>
              <a:rPr lang="en-US" sz="1200" dirty="0">
                <a:solidFill>
                  <a:srgbClr val="FF0000"/>
                </a:solidFill>
              </a:rPr>
              <a:t>&gt;);</a:t>
            </a:r>
          </a:p>
          <a:p>
            <a:pPr lvl="2"/>
            <a:endParaRPr lang="en-US" sz="1200" dirty="0">
              <a:solidFill>
                <a:srgbClr val="FF0000"/>
              </a:solidFill>
            </a:endParaRPr>
          </a:p>
          <a:p>
            <a:pPr lvl="2"/>
            <a:r>
              <a:rPr lang="en-US" sz="1200" dirty="0">
                <a:solidFill>
                  <a:srgbClr val="FF0000"/>
                </a:solidFill>
              </a:rPr>
              <a:t>INSERT INTO data2(name, phone)VALUES (‘</a:t>
            </a:r>
            <a:r>
              <a:rPr lang="en-US" sz="1200" dirty="0" err="1">
                <a:solidFill>
                  <a:srgbClr val="FF0000"/>
                </a:solidFill>
              </a:rPr>
              <a:t>thabiso</a:t>
            </a:r>
            <a:r>
              <a:rPr lang="en-US" sz="1200" dirty="0">
                <a:solidFill>
                  <a:srgbClr val="FF0000"/>
                </a:solidFill>
              </a:rPr>
              <a:t>', {0848022338,0848022339});</a:t>
            </a:r>
          </a:p>
          <a:p>
            <a:pPr lvl="2"/>
            <a:endParaRPr lang="en-US" sz="1200" dirty="0">
              <a:solidFill>
                <a:srgbClr val="FF0000"/>
              </a:solidFill>
            </a:endParaRPr>
          </a:p>
          <a:p>
            <a:pPr lvl="2"/>
            <a:r>
              <a:rPr lang="en-US" sz="1200" dirty="0">
                <a:solidFill>
                  <a:srgbClr val="FF0000"/>
                </a:solidFill>
              </a:rPr>
              <a:t>UPDATE data2 SET phone = phone + {0848022330} where name = ‘</a:t>
            </a:r>
            <a:r>
              <a:rPr lang="en-US" sz="1200" dirty="0" err="1">
                <a:solidFill>
                  <a:srgbClr val="FF0000"/>
                </a:solidFill>
              </a:rPr>
              <a:t>thabiso</a:t>
            </a:r>
            <a:r>
              <a:rPr lang="en-US" sz="1200" dirty="0">
                <a:solidFill>
                  <a:srgbClr val="FF0000"/>
                </a:solidFill>
              </a:rPr>
              <a:t>';</a:t>
            </a:r>
          </a:p>
          <a:p>
            <a:r>
              <a:rPr lang="en-ZA" sz="2000" b="1" dirty="0"/>
              <a:t>Using </a:t>
            </a:r>
            <a:r>
              <a:rPr lang="en-ZA" sz="2000" b="1" dirty="0">
                <a:solidFill>
                  <a:schemeClr val="accent1"/>
                </a:solidFill>
              </a:rPr>
              <a:t>MAP</a:t>
            </a:r>
          </a:p>
          <a:p>
            <a:pPr lvl="1"/>
            <a:r>
              <a:rPr lang="en-US" sz="1600" dirty="0"/>
              <a:t>Map is a data type that is used to store a key-value pair of elements.</a:t>
            </a:r>
          </a:p>
          <a:p>
            <a:pPr lvl="1"/>
            <a:endParaRPr lang="en-US" sz="1600" dirty="0"/>
          </a:p>
          <a:p>
            <a:pPr lvl="2"/>
            <a:r>
              <a:rPr lang="en-US" sz="1200" dirty="0">
                <a:solidFill>
                  <a:srgbClr val="FF0000"/>
                </a:solidFill>
              </a:rPr>
              <a:t>CREATE TABLE data3 (name text PRIMARY KEY, address map&lt;timestamp, text&gt;);</a:t>
            </a:r>
          </a:p>
          <a:p>
            <a:pPr lvl="2"/>
            <a:endParaRPr lang="en-US" sz="1200" dirty="0">
              <a:solidFill>
                <a:srgbClr val="FF0000"/>
              </a:solidFill>
            </a:endParaRPr>
          </a:p>
          <a:p>
            <a:pPr lvl="2"/>
            <a:r>
              <a:rPr lang="en-US" sz="1200" dirty="0">
                <a:solidFill>
                  <a:srgbClr val="FF0000"/>
                </a:solidFill>
              </a:rPr>
              <a:t>INSERT INTO data3 (name, address) VALUES (‘</a:t>
            </a:r>
            <a:r>
              <a:rPr lang="en-US" sz="1200" dirty="0" err="1">
                <a:solidFill>
                  <a:srgbClr val="FF0000"/>
                </a:solidFill>
              </a:rPr>
              <a:t>jabu</a:t>
            </a:r>
            <a:r>
              <a:rPr lang="en-US" sz="1200" dirty="0">
                <a:solidFill>
                  <a:srgbClr val="FF0000"/>
                </a:solidFill>
              </a:rPr>
              <a:t>', {'home' : ‘Kimberley' , 'office' : ‘Bloemfontein' } );</a:t>
            </a:r>
          </a:p>
          <a:p>
            <a:pPr lvl="2"/>
            <a:endParaRPr lang="en-US" sz="1200" dirty="0">
              <a:solidFill>
                <a:srgbClr val="FF0000"/>
              </a:solidFill>
            </a:endParaRPr>
          </a:p>
          <a:p>
            <a:pPr lvl="2"/>
            <a:r>
              <a:rPr lang="en-US" sz="1200" dirty="0">
                <a:solidFill>
                  <a:srgbClr val="FF0000"/>
                </a:solidFill>
              </a:rPr>
              <a:t>UPDATE data3  SET address = address+{'</a:t>
            </a:r>
            <a:r>
              <a:rPr lang="en-US" sz="1200" dirty="0" err="1">
                <a:solidFill>
                  <a:srgbClr val="FF0000"/>
                </a:solidFill>
              </a:rPr>
              <a:t>office':'Cape</a:t>
            </a:r>
            <a:r>
              <a:rPr lang="en-US" sz="1200" dirty="0">
                <a:solidFill>
                  <a:srgbClr val="FF0000"/>
                </a:solidFill>
              </a:rPr>
              <a:t> town'}  WHERE name = ‘</a:t>
            </a:r>
            <a:r>
              <a:rPr lang="en-US" sz="1200" dirty="0" err="1">
                <a:solidFill>
                  <a:srgbClr val="FF0000"/>
                </a:solidFill>
              </a:rPr>
              <a:t>jabu</a:t>
            </a:r>
            <a:r>
              <a:rPr lang="en-US" sz="1200" dirty="0">
                <a:solidFill>
                  <a:srgbClr val="FF0000"/>
                </a:solidFill>
              </a:rPr>
              <a:t>';</a:t>
            </a:r>
            <a:endParaRPr lang="en-ZA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972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User Defined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solidFill>
                  <a:srgbClr val="FF0000"/>
                </a:solidFill>
              </a:rPr>
              <a:t>Self Study</a:t>
            </a:r>
          </a:p>
        </p:txBody>
      </p:sp>
    </p:spTree>
    <p:extLst>
      <p:ext uri="{BB962C8B-B14F-4D97-AF65-F5344CB8AC3E}">
        <p14:creationId xmlns:p14="http://schemas.microsoft.com/office/powerpoint/2010/main" val="2658996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</TotalTime>
  <Words>1583</Words>
  <Application>Microsoft Office PowerPoint</Application>
  <PresentationFormat>On-screen Show (4:3)</PresentationFormat>
  <Paragraphs>186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Apache Cassandra</vt:lpstr>
      <vt:lpstr>Overview</vt:lpstr>
      <vt:lpstr>Key Features of Cassandra</vt:lpstr>
      <vt:lpstr>Who Uses Cassandra</vt:lpstr>
      <vt:lpstr> Cassandra Query Language Shell  (cqlsh) </vt:lpstr>
      <vt:lpstr>Create Keyspace</vt:lpstr>
      <vt:lpstr>Alter &amp; Drop Keyspaces</vt:lpstr>
      <vt:lpstr>Creating a Table</vt:lpstr>
      <vt:lpstr>PowerPoint Presentation</vt:lpstr>
      <vt:lpstr>Alter Table</vt:lpstr>
      <vt:lpstr>Truncate &amp; Drop Table</vt:lpstr>
      <vt:lpstr>Create &amp; Drop Index</vt:lpstr>
      <vt:lpstr>Inserting Data</vt:lpstr>
      <vt:lpstr>Updating Data</vt:lpstr>
      <vt:lpstr>Reading Data</vt:lpstr>
      <vt:lpstr>Deleting Data</vt:lpstr>
      <vt:lpstr>Batch Operations</vt:lpstr>
      <vt:lpstr>CQL Collections</vt:lpstr>
      <vt:lpstr>PowerPoint Presentation</vt:lpstr>
      <vt:lpstr>User Defined Data Type</vt:lpstr>
    </vt:vector>
  </TitlesOfParts>
  <Company>Univeristy of the Free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Cassandra</dc:title>
  <dc:creator>Silas</dc:creator>
  <cp:lastModifiedBy>Silas Verkijika</cp:lastModifiedBy>
  <cp:revision>44</cp:revision>
  <dcterms:created xsi:type="dcterms:W3CDTF">2020-06-30T23:13:50Z</dcterms:created>
  <dcterms:modified xsi:type="dcterms:W3CDTF">2024-04-17T03:56:10Z</dcterms:modified>
</cp:coreProperties>
</file>